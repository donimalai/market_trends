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Logistics: confirm timing with a full run-through including the live demo before presenting -- 12 content slides plus two live demo sections is tight for 20 minutes. Have a screenshot fallback ready (see README/docs) in case the live dashboard doesn't come up cleanly.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Logistics: same timing note as slide 6 -- rehearse this section live, keep a screenshot fallback handy.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B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37276" y="1005840"/>
            <a:ext cx="914400" cy="91440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/Users/rameshdurgappa/Github/mip/presentation/assets/datab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43016" y="1211580"/>
            <a:ext cx="502920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148840"/>
            <a:ext cx="10360152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 Intelligence Platform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1188720" y="3200400"/>
            <a:ext cx="981151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ASX 200 market trend + RBA cash rate, for financially literate, non-technical bank management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1188720" y="3977640"/>
            <a:ext cx="98115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AA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 — Senior Data Analytics / BI Specialist (Data &amp; Analytics Engineering Lead), Associate Director</a:t>
            </a:r>
            <a:endParaRPr lang="en-US" sz="12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AA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Macquarie Market Services — Post-Trade Transformation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1188720" y="5989320"/>
            <a:ext cx="98115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C8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github.com/donimalai/market_trends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/Users/rameshdurgappa/Github/mip/presentation/assets/targ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199" y="584759"/>
            <a:ext cx="311810" cy="31181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384048"/>
            <a:ext cx="10332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question, answered without reading a pipeline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1280160" y="896112"/>
            <a:ext cx="10332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Framing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48640" y="128016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role has two mandates: instrument how the business measures itself, and shape how analytics gets embedded into every product. </a:t>
            </a:r>
            <a:pPr algn="ctr" indent="0" marL="0">
              <a:buNone/>
            </a:pPr>
            <a:r>
              <a:rPr lang="en-US" sz="125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case study is a compressed version of the first — the same thinking extends to the second.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548640" y="1737360"/>
            <a:ext cx="11091672" cy="1143000"/>
          </a:xfrm>
          <a:prstGeom prst="roundRect">
            <a:avLst>
              <a:gd name="adj" fmla="val 9600"/>
            </a:avLst>
          </a:prstGeom>
          <a:solidFill>
            <a:srgbClr val="EEF3FD"/>
          </a:solidFill>
          <a:ln/>
        </p:spPr>
      </p:sp>
      <p:sp>
        <p:nvSpPr>
          <p:cNvPr id="8" name="Text 5"/>
          <p:cNvSpPr/>
          <p:nvPr/>
        </p:nvSpPr>
        <p:spPr>
          <a:xfrm>
            <a:off x="868680" y="1737360"/>
            <a:ext cx="10451592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b="1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“How has ASX 200 market activity trended over the past 90 days, and is there anything we should be watching?”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640080" y="3136392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306324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3840480" y="306324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moves and market swings don't always show up together right away — one view of both lets management catch a shift while it's still a line on a chart, not a headline.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40080" y="3986784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0"/>
          <p:cNvSpPr/>
          <p:nvPr/>
        </p:nvSpPr>
        <p:spPr>
          <a:xfrm>
            <a:off x="914400" y="3913632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840480" y="3913632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Financially literate, non-technical bank management — one clear takeaway per chart, no jargon.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40080" y="4837176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3"/>
          <p:cNvSpPr/>
          <p:nvPr/>
        </p:nvSpPr>
        <p:spPr>
          <a:xfrm>
            <a:off x="914400" y="4764024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pairing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840480" y="4764024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 cash rate + ASX 200 — the case study's own suggested pairing, and naturally fits a Sydney / Market Services context.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40080" y="5687568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6"/>
          <p:cNvSpPr/>
          <p:nvPr/>
        </p:nvSpPr>
        <p:spPr>
          <a:xfrm>
            <a:off x="914400" y="5614416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philosophy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3840480" y="5614416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as infrastructure, not a one-off report — instrumented, observable, built for self-service from day one, the same standard I'd hold a product to.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Intelligence Platform  |  Case study — Data &amp; Analytics Engineering Lead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/Users/rameshdurgappa/Github/mip/presentation/assets/compa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199" y="584759"/>
            <a:ext cx="311810" cy="31181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384048"/>
            <a:ext cx="10332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Raw → Silver → Mart → Dashboard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1280160" y="896112"/>
            <a:ext cx="10332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walkthrough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94360" y="2148840"/>
            <a:ext cx="1965960" cy="1417320"/>
          </a:xfrm>
          <a:prstGeom prst="roundRect">
            <a:avLst>
              <a:gd name="adj" fmla="val 6452"/>
            </a:avLst>
          </a:prstGeom>
          <a:solidFill>
            <a:srgbClr val="EEF3FD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94360" y="2258568"/>
            <a:ext cx="1965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data/raw/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67512" y="2651760"/>
            <a:ext cx="1819656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Parquet</a:t>
            </a:r>
            <a:endParaRPr lang="en-US" sz="10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(gitignored)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2560320" y="2148840"/>
            <a:ext cx="256032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2816352" y="2148840"/>
            <a:ext cx="1965960" cy="1417320"/>
          </a:xfrm>
          <a:prstGeom prst="roundRect">
            <a:avLst>
              <a:gd name="adj" fmla="val 6452"/>
            </a:avLst>
          </a:prstGeom>
          <a:solidFill>
            <a:srgbClr val="EEF3FD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816352" y="2258568"/>
            <a:ext cx="1965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raw.*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2889504" y="2651760"/>
            <a:ext cx="1819656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Straight DuckDB load</a:t>
            </a:r>
            <a:endParaRPr lang="en-US" sz="10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load_date lineage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4782312" y="2148840"/>
            <a:ext cx="256032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5038344" y="2148840"/>
            <a:ext cx="1965960" cy="1417320"/>
          </a:xfrm>
          <a:prstGeom prst="roundRect">
            <a:avLst>
              <a:gd name="adj" fmla="val 6452"/>
            </a:avLst>
          </a:prstGeom>
          <a:solidFill>
            <a:srgbClr val="EEF3FD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38344" y="2258568"/>
            <a:ext cx="1965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silver.*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5111496" y="2651760"/>
            <a:ext cx="1819656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Typed · deduped</a:t>
            </a:r>
            <a:endParaRPr lang="en-US" sz="10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DQ checks · quarantine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7004304" y="2148840"/>
            <a:ext cx="256032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7260336" y="2148840"/>
            <a:ext cx="1965960" cy="1417320"/>
          </a:xfrm>
          <a:prstGeom prst="roundRect">
            <a:avLst>
              <a:gd name="adj" fmla="val 6452"/>
            </a:avLst>
          </a:prstGeom>
          <a:solidFill>
            <a:srgbClr val="EEF3FD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260336" y="2258568"/>
            <a:ext cx="1965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curated.*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7333488" y="2651760"/>
            <a:ext cx="1819656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 schema mart</a:t>
            </a:r>
            <a:endParaRPr lang="en-US" sz="10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(dim_date + facts)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9226296" y="2148840"/>
            <a:ext cx="256032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2" name="Shape 19"/>
          <p:cNvSpPr/>
          <p:nvPr/>
        </p:nvSpPr>
        <p:spPr>
          <a:xfrm>
            <a:off x="9482328" y="2148840"/>
            <a:ext cx="1965960" cy="1417320"/>
          </a:xfrm>
          <a:prstGeom prst="roundRect">
            <a:avLst>
              <a:gd name="adj" fmla="val 6452"/>
            </a:avLst>
          </a:prstGeom>
          <a:solidFill>
            <a:srgbClr val="1E2761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482328" y="2258568"/>
            <a:ext cx="1965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Dashboard</a:t>
            </a:r>
            <a:endParaRPr lang="en-US" sz="1500" dirty="0"/>
          </a:p>
        </p:txBody>
      </p:sp>
      <p:sp>
        <p:nvSpPr>
          <p:cNvPr id="24" name="Text 21"/>
          <p:cNvSpPr/>
          <p:nvPr/>
        </p:nvSpPr>
        <p:spPr>
          <a:xfrm>
            <a:off x="9555480" y="2651760"/>
            <a:ext cx="1819656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3-page Streamlit app</a:t>
            </a:r>
            <a:endParaRPr lang="en-US" sz="10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metrics_daily only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48640" y="3977640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EEF3FD"/>
          </a:solidFill>
          <a:ln/>
        </p:spPr>
      </p:sp>
      <p:sp>
        <p:nvSpPr>
          <p:cNvPr id="26" name="Text 23"/>
          <p:cNvSpPr/>
          <p:nvPr/>
        </p:nvSpPr>
        <p:spPr>
          <a:xfrm>
            <a:off x="777240" y="414223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separation</a:t>
            </a:r>
            <a:endParaRPr lang="en-US" sz="1350" dirty="0"/>
          </a:p>
        </p:txBody>
      </p:sp>
      <p:sp>
        <p:nvSpPr>
          <p:cNvPr id="27" name="Text 24"/>
          <p:cNvSpPr/>
          <p:nvPr/>
        </p:nvSpPr>
        <p:spPr>
          <a:xfrm>
            <a:off x="777240" y="4544568"/>
            <a:ext cx="31089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is never pre-cleaned — every source column survives untouched, so a requirement change never means re-pulling data. Each layer re-runs and tests independently.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315968" y="3977640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EEF3FD"/>
          </a:solidFill>
          <a:ln/>
        </p:spPr>
      </p:sp>
      <p:sp>
        <p:nvSpPr>
          <p:cNvPr id="29" name="Text 26"/>
          <p:cNvSpPr/>
          <p:nvPr/>
        </p:nvSpPr>
        <p:spPr>
          <a:xfrm>
            <a:off x="4544568" y="414223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handling</a:t>
            </a:r>
            <a:endParaRPr lang="en-US" sz="1350" dirty="0"/>
          </a:p>
        </p:txBody>
      </p:sp>
      <p:sp>
        <p:nvSpPr>
          <p:cNvPr id="30" name="Text 27"/>
          <p:cNvSpPr/>
          <p:nvPr/>
        </p:nvSpPr>
        <p:spPr>
          <a:xfrm>
            <a:off x="4544568" y="4544568"/>
            <a:ext cx="31089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fails silently — every stage logs its outcome. Rows that fail a critical check are quarantined, with the exact reason, not dropped.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083296" y="3977640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EEF3FD"/>
          </a:solidFill>
          <a:ln/>
        </p:spPr>
      </p:sp>
      <p:sp>
        <p:nvSpPr>
          <p:cNvPr id="32" name="Text 29"/>
          <p:cNvSpPr/>
          <p:nvPr/>
        </p:nvSpPr>
        <p:spPr>
          <a:xfrm>
            <a:off x="8311896" y="414223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Handoff approach</a:t>
            </a:r>
            <a:endParaRPr lang="en-US" sz="1350" dirty="0"/>
          </a:p>
        </p:txBody>
      </p:sp>
      <p:sp>
        <p:nvSpPr>
          <p:cNvPr id="33" name="Text 30"/>
          <p:cNvSpPr/>
          <p:nvPr/>
        </p:nvSpPr>
        <p:spPr>
          <a:xfrm>
            <a:off x="8311896" y="4544568"/>
            <a:ext cx="31089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a source follows one fixed pattern; DQ logging lives in two tables, not tribal knowledge; any schema change needs a written design doc before code.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Intelligence Platform  |  Case study — Data &amp; Analytics Engineering Lead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/Users/rameshdurgappa/Github/mip/presentation/assets/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199" y="584759"/>
            <a:ext cx="311810" cy="31181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384048"/>
            <a:ext cx="10332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measures, each on purpose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1280160" y="896112"/>
            <a:ext cx="10332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decisions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1672" cy="2286000"/>
        </p:xfrm>
        <a:graphic>
          <a:graphicData uri="http://schemas.openxmlformats.org/drawingml/2006/table">
            <a:tbl>
              <a:tblPr/>
              <a:tblGrid>
                <a:gridCol w="2743200"/>
                <a:gridCol w="2377440"/>
                <a:gridCol w="597103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this window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Rolling avg volume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trading days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specified in the brief — chosen as a ~monthly convention: smooths noise, stays responsive.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Rate of change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day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Simplest “up or down” signal — deliberately the shortest window.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14-day volatility (ann.)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 trading days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one window the brief specifies explicitly.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RAG signal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14d vol vs. its own 90d avg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Self-relative, not fixed — flags regime shifts without an external baseline.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4023360"/>
            <a:ext cx="3538728" cy="1920240"/>
          </a:xfrm>
          <a:prstGeom prst="roundRect">
            <a:avLst>
              <a:gd name="adj" fmla="val 5714"/>
            </a:avLst>
          </a:prstGeom>
          <a:solidFill>
            <a:srgbClr val="1E2761"/>
          </a:solidFill>
          <a:ln/>
        </p:spPr>
      </p:sp>
      <p:sp>
        <p:nvSpPr>
          <p:cNvPr id="8" name="Text 4"/>
          <p:cNvSpPr/>
          <p:nvPr/>
        </p:nvSpPr>
        <p:spPr>
          <a:xfrm>
            <a:off x="749808" y="4169664"/>
            <a:ext cx="31363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threshold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749808" y="4553712"/>
            <a:ext cx="3136392" cy="12984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🟢 ≤ 1.5×   🟡 1.5–2.0×   🔴 &gt; 2.0×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its own 90-day trailing average volatility.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makes the call — not the reader.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4325112" y="4023360"/>
            <a:ext cx="3538728" cy="1920240"/>
          </a:xfrm>
          <a:prstGeom prst="roundRect">
            <a:avLst>
              <a:gd name="adj" fmla="val 5714"/>
            </a:avLst>
          </a:prstGeom>
          <a:solidFill>
            <a:srgbClr val="EEF3FD"/>
          </a:solidFill>
          <a:ln/>
        </p:spPr>
      </p:sp>
      <p:sp>
        <p:nvSpPr>
          <p:cNvPr id="11" name="Text 7"/>
          <p:cNvSpPr/>
          <p:nvPr/>
        </p:nvSpPr>
        <p:spPr>
          <a:xfrm>
            <a:off x="4526280" y="4169664"/>
            <a:ext cx="31363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excluded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4526280" y="4553712"/>
            <a:ext cx="3136392" cy="12984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CPI/inflation was evaluated as a second macro overlay and deliberately left out — the brief wants one macro series, and CPI's quarterly cadence doesn't suit a 90-day view.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8101584" y="4023360"/>
            <a:ext cx="3538728" cy="1920240"/>
          </a:xfrm>
          <a:prstGeom prst="roundRect">
            <a:avLst>
              <a:gd name="adj" fmla="val 5714"/>
            </a:avLst>
          </a:prstGeom>
          <a:solidFill>
            <a:srgbClr val="EEF3FD"/>
          </a:solidFill>
          <a:ln/>
        </p:spPr>
      </p:sp>
      <p:sp>
        <p:nvSpPr>
          <p:cNvPr id="14" name="Text 10"/>
          <p:cNvSpPr/>
          <p:nvPr/>
        </p:nvSpPr>
        <p:spPr>
          <a:xfrm>
            <a:off x="8302752" y="4169664"/>
            <a:ext cx="31363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Assumptions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8302752" y="4553712"/>
            <a:ext cx="3136392" cy="12984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documented where the brief was silent — e.g. the 20-day volume window, Cash Rate Target vs. Interbank rate. Full list in the Appendix, kept visible, not buried.</a:t>
            </a:r>
            <a:endParaRPr lang="en-US" sz="1150" dirty="0"/>
          </a:p>
        </p:txBody>
      </p:sp>
      <p:sp>
        <p:nvSpPr>
          <p:cNvPr id="16" name="Text 12"/>
          <p:cNvSpPr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Intelligence Platform  |  Case study — Data &amp; Analytics Engineering Lead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/Users/rameshdurgappa/Github/mip/presentation/assets/shie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199" y="584759"/>
            <a:ext cx="311810" cy="31181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384048"/>
            <a:ext cx="10332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silent failures, by design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1280160" y="896112"/>
            <a:ext cx="10332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 approach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4630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E2761"/>
          </a:solidFill>
          <a:ln/>
        </p:spPr>
      </p:sp>
      <p:sp>
        <p:nvSpPr>
          <p:cNvPr id="7" name="Text 4"/>
          <p:cNvSpPr/>
          <p:nvPr/>
        </p:nvSpPr>
        <p:spPr>
          <a:xfrm>
            <a:off x="548640" y="1508760"/>
            <a:ext cx="35204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548640" y="2194560"/>
            <a:ext cx="35204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stages</a:t>
            </a:r>
            <a:endParaRPr lang="en-US" sz="11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logged every run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343400" y="14630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E2761"/>
          </a:solidFill>
          <a:ln/>
        </p:spPr>
      </p:sp>
      <p:sp>
        <p:nvSpPr>
          <p:cNvPr id="10" name="Text 7"/>
          <p:cNvSpPr/>
          <p:nvPr/>
        </p:nvSpPr>
        <p:spPr>
          <a:xfrm>
            <a:off x="4343400" y="1508760"/>
            <a:ext cx="35204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4000" dirty="0"/>
          </a:p>
        </p:txBody>
      </p:sp>
      <p:sp>
        <p:nvSpPr>
          <p:cNvPr id="11" name="Text 8"/>
          <p:cNvSpPr/>
          <p:nvPr/>
        </p:nvSpPr>
        <p:spPr>
          <a:xfrm>
            <a:off x="4343400" y="2194560"/>
            <a:ext cx="35204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DQ checks per run</a:t>
            </a:r>
            <a:endParaRPr lang="en-US" sz="11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(both datasets combined)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8138160" y="14630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E2761"/>
          </a:solidFill>
          <a:ln/>
        </p:spPr>
      </p:sp>
      <p:sp>
        <p:nvSpPr>
          <p:cNvPr id="13" name="Text 10"/>
          <p:cNvSpPr/>
          <p:nvPr/>
        </p:nvSpPr>
        <p:spPr>
          <a:xfrm>
            <a:off x="8138160" y="1508760"/>
            <a:ext cx="35204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8138160" y="2194560"/>
            <a:ext cx="35204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bugs caught</a:t>
            </a:r>
            <a:endParaRPr lang="en-US" sz="11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fixed while building this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548640" y="324612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row moves through validation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48640" y="3703320"/>
            <a:ext cx="3566160" cy="1005840"/>
          </a:xfrm>
          <a:prstGeom prst="roundRect">
            <a:avLst>
              <a:gd name="adj" fmla="val 9091"/>
            </a:avLst>
          </a:prstGeom>
          <a:solidFill>
            <a:srgbClr val="EEF3FD"/>
          </a:solidFill>
          <a:ln w="19050">
            <a:solidFill>
              <a:srgbClr val="1E7E3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31520" y="3858768"/>
            <a:ext cx="201168" cy="201168"/>
          </a:xfrm>
          <a:prstGeom prst="ellipse">
            <a:avLst/>
          </a:prstGeom>
          <a:solidFill>
            <a:srgbClr val="1E7E34"/>
          </a:solidFill>
          <a:ln/>
        </p:spPr>
      </p:sp>
      <p:sp>
        <p:nvSpPr>
          <p:cNvPr id="18" name="Text 15"/>
          <p:cNvSpPr/>
          <p:nvPr/>
        </p:nvSpPr>
        <p:spPr>
          <a:xfrm>
            <a:off x="1051560" y="3803904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731520" y="416052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flagged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4343400" y="3703320"/>
            <a:ext cx="3566160" cy="1005840"/>
          </a:xfrm>
          <a:prstGeom prst="roundRect">
            <a:avLst>
              <a:gd name="adj" fmla="val 9091"/>
            </a:avLst>
          </a:prstGeom>
          <a:solidFill>
            <a:srgbClr val="EEF3FD"/>
          </a:solidFill>
          <a:ln w="19050">
            <a:solidFill>
              <a:srgbClr val="B26A0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526280" y="3858768"/>
            <a:ext cx="201168" cy="201168"/>
          </a:xfrm>
          <a:prstGeom prst="ellipse">
            <a:avLst/>
          </a:prstGeom>
          <a:solidFill>
            <a:srgbClr val="B26A00"/>
          </a:solidFill>
          <a:ln/>
        </p:spPr>
      </p:sp>
      <p:sp>
        <p:nvSpPr>
          <p:cNvPr id="22" name="Text 19"/>
          <p:cNvSpPr/>
          <p:nvPr/>
        </p:nvSpPr>
        <p:spPr>
          <a:xfrm>
            <a:off x="4846320" y="3803904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4526280" y="416052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Flagged, kept — e.g. a missing business day (likely a holiday)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8138160" y="3703320"/>
            <a:ext cx="3566160" cy="1005840"/>
          </a:xfrm>
          <a:prstGeom prst="roundRect">
            <a:avLst>
              <a:gd name="adj" fmla="val 9091"/>
            </a:avLst>
          </a:prstGeom>
          <a:solidFill>
            <a:srgbClr val="EEF3FD"/>
          </a:solidFill>
          <a:ln w="19050">
            <a:solidFill>
              <a:srgbClr val="C62828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321040" y="3858768"/>
            <a:ext cx="201168" cy="201168"/>
          </a:xfrm>
          <a:prstGeom prst="ellipse">
            <a:avLst/>
          </a:prstGeom>
          <a:solidFill>
            <a:srgbClr val="C62828"/>
          </a:solidFill>
          <a:ln/>
        </p:spPr>
      </p:sp>
      <p:sp>
        <p:nvSpPr>
          <p:cNvPr id="26" name="Text 23"/>
          <p:cNvSpPr/>
          <p:nvPr/>
        </p:nvSpPr>
        <p:spPr>
          <a:xfrm>
            <a:off x="8641080" y="3803904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8321040" y="416052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Quarantined, not dropped — held with the exact reason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548640" y="4892040"/>
            <a:ext cx="110916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bugs below were caught by checking real output — not by code review alone. Full detail: docs/ai_agent_process_log.md, Entry 9.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548640" y="5257800"/>
            <a:ext cx="11091672" cy="1097280"/>
          </a:xfrm>
          <a:prstGeom prst="roundRect">
            <a:avLst>
              <a:gd name="adj" fmla="val 8333"/>
            </a:avLst>
          </a:prstGeom>
          <a:solidFill>
            <a:srgbClr val="FBEAEA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5349240"/>
            <a:ext cx="106070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“Missing” miscounted as “out of range”:  </a:t>
            </a:r>
            <a:pPr indent="0" marL="0"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null value (today's not-yet-published rate) was flagged as implausible. Fixed by splitting the check in two.</a:t>
            </a:r>
            <a:endParaRPr lang="en-US" sz="1150" dirty="0"/>
          </a:p>
        </p:txBody>
      </p:sp>
      <p:sp>
        <p:nvSpPr>
          <p:cNvPr id="31" name="Text 28"/>
          <p:cNvSpPr/>
          <p:nvPr/>
        </p:nvSpPr>
        <p:spPr>
          <a:xfrm>
            <a:off x="777240" y="5760720"/>
            <a:ext cx="10607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 quarantine table got the wrong column type:  </a:t>
            </a:r>
            <a:pPr indent="0" marL="0"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pandas' dtype inference silently gave a text column an INTEGER type when 0 rows were quarantined — the common case. Caught via DESCRIBE, not the row count.</a:t>
            </a:r>
            <a:endParaRPr lang="en-US" sz="1150" dirty="0"/>
          </a:p>
        </p:txBody>
      </p:sp>
      <p:sp>
        <p:nvSpPr>
          <p:cNvPr id="32" name="Text 29"/>
          <p:cNvSpPr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Intelligence Platform  |  Case study — Data &amp; Analytics Engineering Lead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/Users/rameshdurgappa/Github/mip/presentation/assets/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199" y="584759"/>
            <a:ext cx="311810" cy="31181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384048"/>
            <a:ext cx="10332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Answers the question directly — live demo now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1280160" y="896112"/>
            <a:ext cx="10332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walkthrough · Market overview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508760"/>
            <a:ext cx="5349240" cy="1920240"/>
          </a:xfrm>
          <a:prstGeom prst="roundRect">
            <a:avLst>
              <a:gd name="adj" fmla="val 5714"/>
            </a:avLst>
          </a:prstGeom>
          <a:solidFill>
            <a:srgbClr val="EEF3FD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1673352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row + bottom-line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77240" y="2075688"/>
            <a:ext cx="489204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 close, 90-day change, range as a ±% band, and current volatility — plus one auto-generated sentence synthesizing all of it. Rule-based, not ML.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172200" y="1508760"/>
            <a:ext cx="5349240" cy="1920240"/>
          </a:xfrm>
          <a:prstGeom prst="roundRect">
            <a:avLst>
              <a:gd name="adj" fmla="val 5714"/>
            </a:avLst>
          </a:prstGeom>
          <a:solidFill>
            <a:srgbClr val="EEF3FD"/>
          </a:solidFill>
          <a:ln/>
        </p:spPr>
      </p:sp>
      <p:sp>
        <p:nvSpPr>
          <p:cNvPr id="10" name="Text 7"/>
          <p:cNvSpPr/>
          <p:nvPr/>
        </p:nvSpPr>
        <p:spPr>
          <a:xfrm>
            <a:off x="6400800" y="1673352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activity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400800" y="2075688"/>
            <a:ext cx="489204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ASX 200 close price and volume, with a 20-day rolling average — outlier-capped y-axis so the trend isn't flattened by spikes.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48640" y="3657600"/>
            <a:ext cx="5349240" cy="1920240"/>
          </a:xfrm>
          <a:prstGeom prst="roundRect">
            <a:avLst>
              <a:gd name="adj" fmla="val 5714"/>
            </a:avLst>
          </a:prstGeom>
          <a:solidFill>
            <a:srgbClr val="EEF3FD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3822192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 overlay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777240" y="4224528"/>
            <a:ext cx="489204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ASX 200 on a single axis; the RBA cash rate shown as shaded background bands, not a second line on a second axis — simpler to read at a glance.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172200" y="3657600"/>
            <a:ext cx="5349240" cy="1920240"/>
          </a:xfrm>
          <a:prstGeom prst="roundRect">
            <a:avLst>
              <a:gd name="adj" fmla="val 5714"/>
            </a:avLst>
          </a:prstGeom>
          <a:solidFill>
            <a:srgbClr val="EEF3FD"/>
          </a:solidFill>
          <a:ln/>
        </p:spPr>
      </p:sp>
      <p:sp>
        <p:nvSpPr>
          <p:cNvPr id="16" name="Text 13"/>
          <p:cNvSpPr/>
          <p:nvPr/>
        </p:nvSpPr>
        <p:spPr>
          <a:xfrm>
            <a:off x="6400800" y="3822192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Volatility signal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6400800" y="4224528"/>
            <a:ext cx="489204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RAG badge for today, plus a day-by-day history strip with an inline legend — “how long has it been this color” at a glance.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Intelligence Platform  |  Case study — Data &amp; Analytics Engineering Lead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/Users/rameshdurgappa/Github/mip/presentation/assets/shie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199" y="584759"/>
            <a:ext cx="311810" cy="31181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384048"/>
            <a:ext cx="10332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DQ tables are the DQ dashboard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1280160" y="896112"/>
            <a:ext cx="10332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walkthrough · Data quality &amp; Appendix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508760"/>
            <a:ext cx="11091672" cy="2331720"/>
          </a:xfrm>
          <a:prstGeom prst="roundRect">
            <a:avLst>
              <a:gd name="adj" fmla="val 4706"/>
            </a:avLst>
          </a:prstGeom>
          <a:solidFill>
            <a:srgbClr val="EEF3FD"/>
          </a:solidFill>
          <a:ln/>
        </p:spPr>
      </p:sp>
      <p:sp>
        <p:nvSpPr>
          <p:cNvPr id="7" name="Text 4"/>
          <p:cNvSpPr/>
          <p:nvPr/>
        </p:nvSpPr>
        <p:spPr>
          <a:xfrm>
            <a:off x="822960" y="169164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statistics &amp; quality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2103120"/>
            <a:ext cx="105156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Colour-coded status badges (🟢/🟡/🔴/⚪) mapped directly from the pipeline's own logged status — nothing re-classified for display.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DQ trend chart across recent runs — evidence this is continuously monitored, not a one-off check.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 worked quarantine example: one deliberately invalid row run through the real validation logic — proves the mechanism works by executing it, not just describing it. Labeled honestly as a synthetic test case; the real pipeline has quarantined 0 rows to date.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48640" y="4023360"/>
            <a:ext cx="11091672" cy="1691640"/>
          </a:xfrm>
          <a:prstGeom prst="roundRect">
            <a:avLst>
              <a:gd name="adj" fmla="val 6486"/>
            </a:avLst>
          </a:prstGeom>
          <a:solidFill>
            <a:srgbClr val="1E2761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4187952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22960" y="4572000"/>
            <a:ext cx="1051560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plain-language explainer, written for both audiences — the exact formulas behind every KPI, why the macro overlay dropped its dual axis, and precise definitions for every DQ status — all traceable to real table/function names, and kept in sync with docs/metric_definitions.md rather than re-explained twice.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Intelligence Platform  |  Case study — Data &amp; Analytics Engineering Lead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/Users/rameshdurgappa/Github/mip/presentation/assets/cp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199" y="584759"/>
            <a:ext cx="311810" cy="31181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384048"/>
            <a:ext cx="10332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Caught, not assumed — and trusted where it earned it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1280160" y="896112"/>
            <a:ext cx="10332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 reflection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508760"/>
            <a:ext cx="5394960" cy="4526280"/>
          </a:xfrm>
          <a:prstGeom prst="roundRect">
            <a:avLst>
              <a:gd name="adj" fmla="val 2424"/>
            </a:avLst>
          </a:prstGeom>
          <a:solidFill>
            <a:srgbClr val="FBEAEA"/>
          </a:solidFill>
          <a:ln/>
        </p:spPr>
      </p:sp>
      <p:sp>
        <p:nvSpPr>
          <p:cNvPr id="7" name="Shape 4"/>
          <p:cNvSpPr/>
          <p:nvPr/>
        </p:nvSpPr>
        <p:spPr>
          <a:xfrm>
            <a:off x="804672" y="1746504"/>
            <a:ext cx="182880" cy="182880"/>
          </a:xfrm>
          <a:prstGeom prst="ellipse">
            <a:avLst/>
          </a:prstGeom>
          <a:solidFill>
            <a:srgbClr val="C62828"/>
          </a:solidFill>
          <a:ln/>
        </p:spPr>
      </p:sp>
      <p:sp>
        <p:nvSpPr>
          <p:cNvPr id="8" name="Text 5"/>
          <p:cNvSpPr/>
          <p:nvPr/>
        </p:nvSpPr>
        <p:spPr>
          <a:xfrm>
            <a:off x="1097280" y="1673352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22960" y="219456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three-layer model was my call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22960" y="2514600"/>
            <a:ext cx="48463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08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agent's first working version was a simple two-layer raw → curated pipeline. I directed the split into raw, silver, and curated once the DQ spec needed an explicit layer to quarantine failed rows without touching raw.</a:t>
            </a:r>
            <a:endParaRPr lang="en-US" sz="1080" dirty="0"/>
          </a:p>
        </p:txBody>
      </p:sp>
      <p:sp>
        <p:nvSpPr>
          <p:cNvPr id="11" name="Text 8"/>
          <p:cNvSpPr/>
          <p:nvPr/>
        </p:nvSpPr>
        <p:spPr>
          <a:xfrm>
            <a:off x="822960" y="3456432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“Raw” wasn't actually raw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22960" y="3776472"/>
            <a:ext cx="48463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08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extractors were narrowing and renaming columns before writing to the raw layer — technically raw in name, not in fact. Caught on review, not agent self-catch; corrected to persist every source column untouched.</a:t>
            </a:r>
            <a:endParaRPr lang="en-US" sz="1080" dirty="0"/>
          </a:p>
        </p:txBody>
      </p:sp>
      <p:sp>
        <p:nvSpPr>
          <p:cNvPr id="13" name="Text 10"/>
          <p:cNvSpPr/>
          <p:nvPr/>
        </p:nvSpPr>
        <p:spPr>
          <a:xfrm>
            <a:off x="822960" y="4718304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“It ran” ≠ “it worked”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822960" y="5038344"/>
            <a:ext cx="48463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08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volatility signal computed with zero errors but was 0% populated. Caught by checking the actual row count, not just that nothing crashed — fixed with a properly sized lookback window.</a:t>
            </a:r>
            <a:endParaRPr lang="en-US" sz="1080" dirty="0"/>
          </a:p>
        </p:txBody>
      </p:sp>
      <p:sp>
        <p:nvSpPr>
          <p:cNvPr id="15" name="Shape 12"/>
          <p:cNvSpPr/>
          <p:nvPr/>
        </p:nvSpPr>
        <p:spPr>
          <a:xfrm>
            <a:off x="6245352" y="1508760"/>
            <a:ext cx="5394960" cy="4526280"/>
          </a:xfrm>
          <a:prstGeom prst="roundRect">
            <a:avLst>
              <a:gd name="adj" fmla="val 2424"/>
            </a:avLst>
          </a:prstGeom>
          <a:solidFill>
            <a:srgbClr val="EEF3FD"/>
          </a:solidFill>
          <a:ln/>
        </p:spPr>
      </p:sp>
      <p:sp>
        <p:nvSpPr>
          <p:cNvPr id="16" name="Shape 13"/>
          <p:cNvSpPr/>
          <p:nvPr/>
        </p:nvSpPr>
        <p:spPr>
          <a:xfrm>
            <a:off x="6501384" y="1746504"/>
            <a:ext cx="182880" cy="182880"/>
          </a:xfrm>
          <a:prstGeom prst="ellipse">
            <a:avLst/>
          </a:prstGeom>
          <a:solidFill>
            <a:srgbClr val="1E7E34"/>
          </a:solidFill>
          <a:ln/>
        </p:spPr>
      </p:sp>
      <p:sp>
        <p:nvSpPr>
          <p:cNvPr id="17" name="Text 14"/>
          <p:cNvSpPr/>
          <p:nvPr/>
        </p:nvSpPr>
        <p:spPr>
          <a:xfrm>
            <a:off x="6793992" y="1673352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Accepted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6519672" y="219456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metric-definitions draft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6519672" y="2514600"/>
            <a:ext cx="48463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08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Accepted as the starting point — including three open judgment calls the agent flagged rather than silently defaulting on (warm-up nulls, baseline averaging, annualisation convention). I decided each one myself.</a:t>
            </a:r>
            <a:endParaRPr lang="en-US" sz="1080" dirty="0"/>
          </a:p>
        </p:txBody>
      </p:sp>
      <p:sp>
        <p:nvSpPr>
          <p:cNvPr id="20" name="Text 17"/>
          <p:cNvSpPr/>
          <p:nvPr/>
        </p:nvSpPr>
        <p:spPr>
          <a:xfrm>
            <a:off x="6519672" y="3456432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mart design doc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6519672" y="3776472"/>
            <a:ext cx="48463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08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star-schema proposal, written before any code. Walked through two embedded judgment calls with the agent and approved it — not accepted blind, but the design itself needed no rework.</a:t>
            </a:r>
            <a:endParaRPr lang="en-US" sz="1080" dirty="0"/>
          </a:p>
        </p:txBody>
      </p:sp>
      <p:sp>
        <p:nvSpPr>
          <p:cNvPr id="22" name="Text 19"/>
          <p:cNvSpPr/>
          <p:nvPr/>
        </p:nvSpPr>
        <p:spPr>
          <a:xfrm>
            <a:off x="6519672" y="4718304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handled hitting a wall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6519672" y="5038344"/>
            <a:ext cx="48463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08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sandbox limit blocked it mid-task, it stopped, said exactly what failed, and asked rather than guessing or quietly leaving a broken state — trusted as the default response, no correction needed.</a:t>
            </a:r>
            <a:endParaRPr lang="en-US" sz="1080" dirty="0"/>
          </a:p>
        </p:txBody>
      </p:sp>
      <p:sp>
        <p:nvSpPr>
          <p:cNvPr id="24" name="Text 21"/>
          <p:cNvSpPr/>
          <p:nvPr/>
        </p:nvSpPr>
        <p:spPr>
          <a:xfrm>
            <a:off x="548640" y="61722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turn-by-turn record: docs/ai_agent_process_log.md — 12 entries.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Intelligence Platform  |  Case study — Data &amp; Analytics Engineering Lead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/Users/rameshdurgappa/Github/mip/presentation/assets/us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199" y="584759"/>
            <a:ext cx="311810" cy="31181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384048"/>
            <a:ext cx="10332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Lead the standard, stay hands-on where it's risky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1280160" y="896112"/>
            <a:ext cx="10332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&amp; standards — how I'd lead this with a team, not just delegate it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914400" y="1298448"/>
            <a:ext cx="10360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lead, I'm accountable for the standard: clear design up front, hands-on involvement where risk is highest, and guardrails that let analysts, engineers, and AI agents deliver safely at pace.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548640" y="1965960"/>
            <a:ext cx="5394960" cy="1691640"/>
          </a:xfrm>
          <a:prstGeom prst="roundRect">
            <a:avLst>
              <a:gd name="adj" fmla="val 6486"/>
            </a:avLst>
          </a:prstGeom>
          <a:solidFill>
            <a:srgbClr val="1E2761"/>
          </a:solidFill>
          <a:ln/>
        </p:spPr>
      </p:sp>
      <p:sp>
        <p:nvSpPr>
          <p:cNvPr id="8" name="Text 5"/>
          <p:cNvSpPr/>
          <p:nvPr/>
        </p:nvSpPr>
        <p:spPr>
          <a:xfrm>
            <a:off x="804672" y="2130552"/>
            <a:ext cx="48828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804672" y="2532888"/>
            <a:ext cx="4882896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the data model, layer boundaries, metric definitions, and acceptance criteria before code starts. The raw/silver/curated split and every metric definition in this build were mine — decided before anyone touched implementation.</a:t>
            </a:r>
            <a:endParaRPr lang="en-US" sz="1080" dirty="0"/>
          </a:p>
        </p:txBody>
      </p:sp>
      <p:sp>
        <p:nvSpPr>
          <p:cNvPr id="10" name="Shape 7"/>
          <p:cNvSpPr/>
          <p:nvPr/>
        </p:nvSpPr>
        <p:spPr>
          <a:xfrm>
            <a:off x="6245352" y="1965960"/>
            <a:ext cx="5394960" cy="1691640"/>
          </a:xfrm>
          <a:prstGeom prst="roundRect">
            <a:avLst>
              <a:gd name="adj" fmla="val 6486"/>
            </a:avLst>
          </a:prstGeom>
          <a:solidFill>
            <a:srgbClr val="EEF3FD"/>
          </a:solidFill>
          <a:ln/>
        </p:spPr>
      </p:sp>
      <p:sp>
        <p:nvSpPr>
          <p:cNvPr id="11" name="Text 8"/>
          <p:cNvSpPr/>
          <p:nvPr/>
        </p:nvSpPr>
        <p:spPr>
          <a:xfrm>
            <a:off x="6501384" y="2130552"/>
            <a:ext cx="48828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 engineer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501384" y="2532888"/>
            <a:ext cx="4882896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08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or co-build the highest-risk parts myself — source contracts, transformation logic, DQ controls, dashboard semantics. Here that meant directing the raw-fidelity fix and sizing the RAG lookback window myself, not just approving someone else's.</a:t>
            </a:r>
            <a:endParaRPr lang="en-US" sz="1080" dirty="0"/>
          </a:p>
        </p:txBody>
      </p:sp>
      <p:sp>
        <p:nvSpPr>
          <p:cNvPr id="13" name="Shape 10"/>
          <p:cNvSpPr/>
          <p:nvPr/>
        </p:nvSpPr>
        <p:spPr>
          <a:xfrm>
            <a:off x="548640" y="3931920"/>
            <a:ext cx="5394960" cy="1691640"/>
          </a:xfrm>
          <a:prstGeom prst="roundRect">
            <a:avLst>
              <a:gd name="adj" fmla="val 6486"/>
            </a:avLst>
          </a:prstGeom>
          <a:solidFill>
            <a:srgbClr val="EEF3FD"/>
          </a:solidFill>
          <a:ln/>
        </p:spPr>
      </p:sp>
      <p:sp>
        <p:nvSpPr>
          <p:cNvPr id="14" name="Text 11"/>
          <p:cNvSpPr/>
          <p:nvPr/>
        </p:nvSpPr>
        <p:spPr>
          <a:xfrm>
            <a:off x="804672" y="4096512"/>
            <a:ext cx="48828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gate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804672" y="4498848"/>
            <a:ext cx="4882896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08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outputs from analysts, engineers, and agents the same way — against correctness, real data, and definition-of-done — before anything is accepted. That bar is what caught two real DQ bugs and a signal that ran clean but returned zero rows.</a:t>
            </a:r>
            <a:endParaRPr lang="en-US" sz="1080" dirty="0"/>
          </a:p>
        </p:txBody>
      </p:sp>
      <p:sp>
        <p:nvSpPr>
          <p:cNvPr id="16" name="Shape 13"/>
          <p:cNvSpPr/>
          <p:nvPr/>
        </p:nvSpPr>
        <p:spPr>
          <a:xfrm>
            <a:off x="6245352" y="3931920"/>
            <a:ext cx="5394960" cy="1691640"/>
          </a:xfrm>
          <a:prstGeom prst="roundRect">
            <a:avLst>
              <a:gd name="adj" fmla="val 6486"/>
            </a:avLst>
          </a:prstGeom>
          <a:solidFill>
            <a:srgbClr val="1E2761"/>
          </a:solidFill>
          <a:ln/>
        </p:spPr>
      </p:sp>
      <p:sp>
        <p:nvSpPr>
          <p:cNvPr id="17" name="Text 14"/>
          <p:cNvSpPr/>
          <p:nvPr/>
        </p:nvSpPr>
        <p:spPr>
          <a:xfrm>
            <a:off x="6501384" y="4096512"/>
            <a:ext cx="48828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Coach &amp; scale-enabler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6501384" y="4498848"/>
            <a:ext cx="4882896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reusable patterns, design docs, and guardrails so the team delivers consistently without tribal knowledge. The design-doc-before-code gate is the onboarding artifact itself — it's also how I split ownership the moment a second contributor joined mid-build.</a:t>
            </a:r>
            <a:endParaRPr lang="en-US" sz="108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Intelligence Platform  |  Case study — Data &amp; Analytics Engineering Lead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/Users/rameshdurgappa/Github/mip/presentation/assets/arr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199" y="584759"/>
            <a:ext cx="311810" cy="31181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384048"/>
            <a:ext cx="10332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next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1280160" y="896112"/>
            <a:ext cx="10332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 had more time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554480"/>
            <a:ext cx="5349240" cy="2743200"/>
          </a:xfrm>
          <a:prstGeom prst="roundRect">
            <a:avLst>
              <a:gd name="adj" fmla="val 4000"/>
            </a:avLst>
          </a:prstGeom>
          <a:solidFill>
            <a:srgbClr val="1E2761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1737360"/>
            <a:ext cx="4892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FA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777240" y="2011680"/>
            <a:ext cx="4892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curated.fact_daily_long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777240" y="2560320"/>
            <a:ext cx="489204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flexible reporting layer, designed but not built. Wins the top spot because it unblocks every *future* dashboard request without more pipeline work — the highest-leverage thing left.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172200" y="1554480"/>
            <a:ext cx="5349240" cy="2743200"/>
          </a:xfrm>
          <a:prstGeom prst="roundRect">
            <a:avLst>
              <a:gd name="adj" fmla="val 4000"/>
            </a:avLst>
          </a:prstGeom>
          <a:solidFill>
            <a:srgbClr val="1E2761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0" y="1737360"/>
            <a:ext cx="4892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FA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2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0" y="2011680"/>
            <a:ext cx="4892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Full RBA meeting calendar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6400800" y="2560320"/>
            <a:ext cx="489204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Currently marks rate-change dates only. Wins second because markets can react to a hold's guidance too, not just a move — a real gap in the “anything to watch” story, cheap to close.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48640" y="4526280"/>
            <a:ext cx="11091672" cy="1051560"/>
          </a:xfrm>
          <a:prstGeom prst="roundRect">
            <a:avLst>
              <a:gd name="adj" fmla="val 10435"/>
            </a:avLst>
          </a:prstGeom>
          <a:solidFill>
            <a:srgbClr val="EEF3FD"/>
          </a:solidFill>
          <a:ln/>
        </p:spPr>
      </p:sp>
      <p:sp>
        <p:nvSpPr>
          <p:cNvPr id="15" name="Text 12"/>
          <p:cNvSpPr/>
          <p:nvPr/>
        </p:nvSpPr>
        <p:spPr>
          <a:xfrm>
            <a:off x="822960" y="4663440"/>
            <a:ext cx="10561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i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Consciously left off the top two: real scheduling and hosted deployment. Both matter eventually, but this is a local case-study submission, not a production rollout yet — solving them now would be effort spent ahead of actual need.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Intelligence Platform  |  Case study — Data &amp; Analytics Engineering Lead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/Users/rameshdurgappa/Github/mip/presentation/assets/fla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199" y="584759"/>
            <a:ext cx="311810" cy="31181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384048"/>
            <a:ext cx="10332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I've had to move people, not just data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1280160" y="896112"/>
            <a:ext cx="10332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stakeholder influence — beyond this case study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463040"/>
            <a:ext cx="5394960" cy="4572000"/>
          </a:xfrm>
          <a:prstGeom prst="roundRect">
            <a:avLst>
              <a:gd name="adj" fmla="val 2400"/>
            </a:avLst>
          </a:prstGeom>
          <a:solidFill>
            <a:srgbClr val="EEF3FD"/>
          </a:solidFill>
          <a:ln/>
        </p:spPr>
      </p:sp>
      <p:sp>
        <p:nvSpPr>
          <p:cNvPr id="7" name="Text 4"/>
          <p:cNvSpPr/>
          <p:nvPr/>
        </p:nvSpPr>
        <p:spPr>
          <a:xfrm>
            <a:off x="804672" y="1645920"/>
            <a:ext cx="4882896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Bigtincan — legacy reporting migration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04672" y="2240280"/>
            <a:ext cx="48828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7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804672" y="2496312"/>
            <a:ext cx="4882896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of Data mandated migrating legacy reporting to a modern BI platform on Databricks — 300+ customers globally, deadline forced by an expiring software licence.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04672" y="3502152"/>
            <a:ext cx="48828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7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PUSHED FOR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804672" y="3758184"/>
            <a:ext cx="4882896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like-for-like migration. I proposed defining higher-level reporting requirements and a reusable data model instead — so customers could build new reports themselves, not wait on us to rebuild every existing one.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04672" y="4764024"/>
            <a:ext cx="48828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7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804672" y="5020056"/>
            <a:ext cx="4882896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Convinced the product team to trade migration speed for genuine self-serve capability.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245352" y="1463040"/>
            <a:ext cx="5394960" cy="4572000"/>
          </a:xfrm>
          <a:prstGeom prst="roundRect">
            <a:avLst>
              <a:gd name="adj" fmla="val 2400"/>
            </a:avLst>
          </a:prstGeom>
          <a:solidFill>
            <a:srgbClr val="EEF3FD"/>
          </a:solidFill>
          <a:ln/>
        </p:spPr>
      </p:sp>
      <p:sp>
        <p:nvSpPr>
          <p:cNvPr id="15" name="Text 12"/>
          <p:cNvSpPr/>
          <p:nvPr/>
        </p:nvSpPr>
        <p:spPr>
          <a:xfrm>
            <a:off x="6501384" y="1645920"/>
            <a:ext cx="4882896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Allianz — actuarial reserving automation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501384" y="2240280"/>
            <a:ext cx="48828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7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6501384" y="2496312"/>
            <a:ext cx="4882896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Currently driving automation of the actuarial reserving process across three product lines — general insurance, CTP, workers comp — each with different rules.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6501384" y="3502152"/>
            <a:ext cx="48828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7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PUSHED FOR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6501384" y="3758184"/>
            <a:ext cx="4882896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Rather than three bespoke solutions, defined a strategy for reusable components that work across all three, and worked the plan through with business stakeholders before any build started.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501384" y="4764024"/>
            <a:ext cx="48828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7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6501384" y="5020056"/>
            <a:ext cx="4882896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architecture, three product lines, self-serve capability designed in from the start.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Intelligence Platform  |  Case study — Data &amp; Analytics Engineering Lead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B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82996" y="548640"/>
            <a:ext cx="822960" cy="82296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/Users/rameshdurgappa/Github/mip/presentation/assets/compa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68162" y="733806"/>
            <a:ext cx="452628" cy="45262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1600200"/>
            <a:ext cx="103601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standard, at scale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1371600" y="2331720"/>
            <a:ext cx="94457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metrics leaders actually use — not manual reporting.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1371600" y="2715768"/>
            <a:ext cx="94457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built into every product from day one — not bolted on after.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371600" y="3099816"/>
            <a:ext cx="94457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that drives decisions — not decorates them.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914400" y="3794760"/>
            <a:ext cx="103601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— questions, and a live look at the dashboard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188720" y="448056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9AA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3383280" y="4480560"/>
            <a:ext cx="7589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github.com/donimalai/market_trends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49834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9AA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locally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3383280" y="4983480"/>
            <a:ext cx="7589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run_pipeline.py  &amp;&amp;  streamlit run src/dashboard/app.py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9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Intelligence Platform  |  Case study — Data &amp; Analytics Engineering Lead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2026-07-25T10:39:22Z</dcterms:created>
  <dcterms:modified xsi:type="dcterms:W3CDTF">2026-07-25T10:39:22Z</dcterms:modified>
</cp:coreProperties>
</file>