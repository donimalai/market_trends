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Logistics: confirm timing with a full run-through including the live demo before presenting -- 12 content slides plus two live demo sections is tight for 20 minutes. Have a screenshot fallback ready (see README/docs) in case the live dashboard doesn't come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Logistics: same timing note as slide 6 -- rehearse this section live, keep a screenshot fallback handy.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37276" y="1005840"/>
            <a:ext cx="914400" cy="91440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data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3016" y="12115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2148840"/>
            <a:ext cx="10360152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Intelligence Platform</a:t>
            </a: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1188720" y="3200400"/>
            <a:ext cx="98115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ASX 200 market trend + RBA cash rate, for financially literate, non-technical bank management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1188720" y="3977640"/>
            <a:ext cx="981151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Senior Data Analytics / BI Specialist (Data &amp; Analytics Engineering Lead), Associate Director</a:t>
            </a:r>
            <a:endParaRPr lang="en-US" sz="12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Macquarie Market Services — Post-Trade Transformation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188720" y="5989320"/>
            <a:ext cx="98115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C8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github.com/donimalai/market_trends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ta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question, answered without reading a pipeline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Framing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48640" y="1280160"/>
            <a:ext cx="110916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role has two mandates: instrument how the business measures itself, and shape how analytics gets embedded into every product. </a:t>
            </a:r>
            <a:pPr algn="ctr" indent="0" marL="0">
              <a:buNone/>
            </a:pPr>
            <a:r>
              <a:rPr lang="en-US" sz="125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case study is a compressed version of the first — the same thinking extends to the second.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48640" y="1737360"/>
            <a:ext cx="11091672" cy="1143000"/>
          </a:xfrm>
          <a:prstGeom prst="roundRect">
            <a:avLst>
              <a:gd name="adj" fmla="val 9600"/>
            </a:avLst>
          </a:prstGeom>
          <a:solidFill>
            <a:srgbClr val="EEF3FD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1737360"/>
            <a:ext cx="10451592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700" b="1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“How has ASX 200 market activity trended over the past 90 days, and is there anything we should be watching?”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640080" y="3136392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914400" y="30632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3840480" y="306324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moves and market swings don't always show up together right away — one view of both lets management catch a shift while it's still a line on a chart, not a headline.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40080" y="3986784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914400" y="3913632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840480" y="3913632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Financially literate, non-technical bank management — one clear takeaway per chart, no jargon.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640080" y="4837176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6" name="Text 13"/>
          <p:cNvSpPr/>
          <p:nvPr/>
        </p:nvSpPr>
        <p:spPr>
          <a:xfrm>
            <a:off x="914400" y="4764024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pairing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3840480" y="4764024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 cash rate + ASX 200 — the case study's own suggested pairing, and naturally fits a Sydney / Market Services context.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40080" y="5687568"/>
            <a:ext cx="128016" cy="12801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/>
          <p:nvPr/>
        </p:nvSpPr>
        <p:spPr>
          <a:xfrm>
            <a:off x="914400" y="5614416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philosophy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3840480" y="5614416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as infrastructure, not a one-off report — instrumented, observable, built for self-service from day one, the same standard I'd hold a product to.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→ Silver → Mart → Dashboard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walkthrough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94360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94360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data/raw/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67512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Parquet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(gitignored)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2560320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2816352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16352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raw.*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2889504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Straight DuckDB load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load_date lineage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4782312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38344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38344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silver.*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5111496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· deduped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DQ checks · quarantine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7004304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5"/>
          <p:cNvSpPr/>
          <p:nvPr/>
        </p:nvSpPr>
        <p:spPr>
          <a:xfrm>
            <a:off x="7260336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EEF3FD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260336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curated.*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33488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 schema mart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(dim_date + facts)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226296" y="2148840"/>
            <a:ext cx="256032" cy="1417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19"/>
          <p:cNvSpPr/>
          <p:nvPr/>
        </p:nvSpPr>
        <p:spPr>
          <a:xfrm>
            <a:off x="9482328" y="2148840"/>
            <a:ext cx="1965960" cy="1417320"/>
          </a:xfrm>
          <a:prstGeom prst="roundRect">
            <a:avLst>
              <a:gd name="adj" fmla="val 6452"/>
            </a:avLst>
          </a:prstGeom>
          <a:solidFill>
            <a:srgbClr val="1E2761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482328" y="2258568"/>
            <a:ext cx="1965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9555480" y="2651760"/>
            <a:ext cx="1819656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3-page Streamlit app</a:t>
            </a:r>
            <a:endParaRPr lang="en-US" sz="10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metrics_daily only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548640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26" name="Text 23"/>
          <p:cNvSpPr/>
          <p:nvPr/>
        </p:nvSpPr>
        <p:spPr>
          <a:xfrm>
            <a:off x="777240" y="41422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separation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777240" y="4544568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is never pre-cleaned — every source column survives untouched, so a requirement change never means re-pulling data. Each layer re-runs and tests independently.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315968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29" name="Text 26"/>
          <p:cNvSpPr/>
          <p:nvPr/>
        </p:nvSpPr>
        <p:spPr>
          <a:xfrm>
            <a:off x="4544568" y="41422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handling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4544568" y="4544568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fails silently — every stage logs its outcome. Rows that fail a critical check are quarantined, with the exact reason, not dropped.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083296" y="3977640"/>
            <a:ext cx="3566160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32" name="Text 29"/>
          <p:cNvSpPr/>
          <p:nvPr/>
        </p:nvSpPr>
        <p:spPr>
          <a:xfrm>
            <a:off x="8311896" y="414223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approach</a:t>
            </a:r>
            <a:endParaRPr lang="en-US" sz="1350" dirty="0"/>
          </a:p>
        </p:txBody>
      </p:sp>
      <p:sp>
        <p:nvSpPr>
          <p:cNvPr id="33" name="Text 30"/>
          <p:cNvSpPr/>
          <p:nvPr/>
        </p:nvSpPr>
        <p:spPr>
          <a:xfrm>
            <a:off x="8311896" y="4544568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source follows one fixed pattern; DQ logging lives in two tables, not tribal knowledge; any schema change needs a written design doc before code.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measures, each on purpose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decisions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1672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2377440"/>
                <a:gridCol w="59710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this window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Rolling avg volume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trading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specified in the brief — chosen as a ~monthly convention: smooths noise, stays responsive.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 of change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day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Simplest “up or down” signal — deliberately the shortest window.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14-day volatility (ann.)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trading days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one window the brief specifies explicitly.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signal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14d vol vs. its own 90d avg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Self-relative, not fixed — flags regime shifts without an external baseline.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023360"/>
            <a:ext cx="3538728" cy="192024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49808" y="41696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threshold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49808" y="4553712"/>
            <a:ext cx="313639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≤ 1.5×   🟡 1.5–2.0×   🔴 &gt; 2.0×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its own 90-day trailing average volatility.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makes the call — not the reader.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325112" y="4023360"/>
            <a:ext cx="3538728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1" name="Text 7"/>
          <p:cNvSpPr/>
          <p:nvPr/>
        </p:nvSpPr>
        <p:spPr>
          <a:xfrm>
            <a:off x="4526280" y="41696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excluded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526280" y="4553712"/>
            <a:ext cx="313639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CPI/inflation was evaluated as a second macro overlay and deliberately left out — the brief wants one macro series, and CPI's quarterly cadence doesn't suit a 90-day view.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101584" y="4023360"/>
            <a:ext cx="3538728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4" name="Text 10"/>
          <p:cNvSpPr/>
          <p:nvPr/>
        </p:nvSpPr>
        <p:spPr>
          <a:xfrm>
            <a:off x="8302752" y="4169664"/>
            <a:ext cx="31363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Assumptions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302752" y="4553712"/>
            <a:ext cx="3136392" cy="12984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documented where the brief was silent — e.g. the 20-day volume window, Cash Rate Target vs. Interbank rate. Full list in the Appendix, kept visible, not buried.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silent failures, by design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approach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548640" y="21945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stages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logged every run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43400" y="14630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4343400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4343400" y="21945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DQ checks per run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(both datasets combined)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138160" y="1463040"/>
            <a:ext cx="3520440" cy="1417320"/>
          </a:xfrm>
          <a:prstGeom prst="roundRect">
            <a:avLst>
              <a:gd name="adj" fmla="val 7742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/>
          <p:nvPr/>
        </p:nvSpPr>
        <p:spPr>
          <a:xfrm>
            <a:off x="8138160" y="1508760"/>
            <a:ext cx="35204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8138160" y="2194560"/>
            <a:ext cx="352044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bugs caught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fixed while building this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548640" y="32461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row moves through validation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48640" y="370332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EF3FD"/>
          </a:solidFill>
          <a:ln w="19050">
            <a:solidFill>
              <a:srgbClr val="1E7E3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31520" y="3858768"/>
            <a:ext cx="201168" cy="201168"/>
          </a:xfrm>
          <a:prstGeom prst="ellipse">
            <a:avLst/>
          </a:prstGeom>
          <a:solidFill>
            <a:srgbClr val="1E7E34"/>
          </a:solidFill>
          <a:ln/>
        </p:spPr>
      </p:sp>
      <p:sp>
        <p:nvSpPr>
          <p:cNvPr id="18" name="Text 15"/>
          <p:cNvSpPr/>
          <p:nvPr/>
        </p:nvSpPr>
        <p:spPr>
          <a:xfrm>
            <a:off x="1051560" y="38039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731520" y="41605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flagged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343400" y="370332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EF3FD"/>
          </a:solidFill>
          <a:ln w="19050">
            <a:solidFill>
              <a:srgbClr val="B26A0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526280" y="3858768"/>
            <a:ext cx="201168" cy="201168"/>
          </a:xfrm>
          <a:prstGeom prst="ellipse">
            <a:avLst/>
          </a:prstGeom>
          <a:solidFill>
            <a:srgbClr val="B26A00"/>
          </a:solidFill>
          <a:ln/>
        </p:spPr>
      </p:sp>
      <p:sp>
        <p:nvSpPr>
          <p:cNvPr id="22" name="Text 19"/>
          <p:cNvSpPr/>
          <p:nvPr/>
        </p:nvSpPr>
        <p:spPr>
          <a:xfrm>
            <a:off x="4846320" y="38039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4526280" y="41605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Flagged, kept — e.g. a missing business day (likely a holiday)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8138160" y="3703320"/>
            <a:ext cx="3566160" cy="1005840"/>
          </a:xfrm>
          <a:prstGeom prst="roundRect">
            <a:avLst>
              <a:gd name="adj" fmla="val 9091"/>
            </a:avLst>
          </a:prstGeom>
          <a:solidFill>
            <a:srgbClr val="EEF3FD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321040" y="3858768"/>
            <a:ext cx="201168" cy="201168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26" name="Text 23"/>
          <p:cNvSpPr/>
          <p:nvPr/>
        </p:nvSpPr>
        <p:spPr>
          <a:xfrm>
            <a:off x="8641080" y="380390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8321040" y="4160520"/>
            <a:ext cx="3246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Quarantined, not dropped — held with the exact reason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548640" y="4892040"/>
            <a:ext cx="110916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bugs below were caught by checking real output — not by code review alone. Full detail: docs/ai_agent_process_log.md, Entry 9.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548640" y="5257800"/>
            <a:ext cx="11091672" cy="1097280"/>
          </a:xfrm>
          <a:prstGeom prst="roundRect">
            <a:avLst>
              <a:gd name="adj" fmla="val 8333"/>
            </a:avLst>
          </a:prstGeom>
          <a:solidFill>
            <a:srgbClr val="FBEAEA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5349240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“Missing” miscounted as “out of range”: 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value (today's not-yet-published rate) was flagged as implausible. Fixed by splitting the check in two.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777240" y="576072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quarantine table got the wrong column type:  </a:t>
            </a:r>
            <a:pPr indent="0" marL="0"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pandas' dtype inference silently gave a text column an INTEGER type when 0 rows were quarantined — the common case. Caught via DESCRIBE, not the row count.</a:t>
            </a:r>
            <a:endParaRPr lang="en-US" sz="1150" dirty="0"/>
          </a:p>
        </p:txBody>
      </p:sp>
      <p:sp>
        <p:nvSpPr>
          <p:cNvPr id="32" name="Text 2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har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 the question directly — live demo now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 · Market overview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row + bottom-line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777240" y="207568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Latest close, 90-day change, range as a ±% band, and current volatility — plus one auto-generated sentence synthesizing all of it. Rule-based, not ML.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172200" y="150876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0" name="Text 7"/>
          <p:cNvSpPr/>
          <p:nvPr/>
        </p:nvSpPr>
        <p:spPr>
          <a:xfrm>
            <a:off x="6400800" y="167335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activity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0" y="207568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ASX 200 close price and volume, with a 20-day rolling average — outlier-capped y-axis so the trend isn't flattened by spikes.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48640" y="365760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3" name="Text 10"/>
          <p:cNvSpPr/>
          <p:nvPr/>
        </p:nvSpPr>
        <p:spPr>
          <a:xfrm>
            <a:off x="777240" y="382219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 overlay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77240" y="422452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ASX 200 on a single axis; the RBA cash rate shown as shaded background bands, not a second line on a second axis — simpler to read at a glance.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72200" y="3657600"/>
            <a:ext cx="5349240" cy="1920240"/>
          </a:xfrm>
          <a:prstGeom prst="roundRect">
            <a:avLst>
              <a:gd name="adj" fmla="val 5714"/>
            </a:avLst>
          </a:prstGeom>
          <a:solidFill>
            <a:srgbClr val="EEF3FD"/>
          </a:solidFill>
          <a:ln/>
        </p:spPr>
      </p:sp>
      <p:sp>
        <p:nvSpPr>
          <p:cNvPr id="16" name="Text 13"/>
          <p:cNvSpPr/>
          <p:nvPr/>
        </p:nvSpPr>
        <p:spPr>
          <a:xfrm>
            <a:off x="6400800" y="3822192"/>
            <a:ext cx="4892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signal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6400800" y="4224528"/>
            <a:ext cx="489204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badge for today, plus a day-by-day history strip with an inline legend — “how long has it been this color” at a glance.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DQ tables are the DQ dashboard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walkthrough · Data quality &amp; Appendix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11091672" cy="2331720"/>
          </a:xfrm>
          <a:prstGeom prst="roundRect">
            <a:avLst>
              <a:gd name="adj" fmla="val 4706"/>
            </a:avLst>
          </a:prstGeom>
          <a:solidFill>
            <a:srgbClr val="EEF3FD"/>
          </a:solidFill>
          <a:ln/>
        </p:spPr>
      </p:sp>
      <p:sp>
        <p:nvSpPr>
          <p:cNvPr id="7" name="Text 4"/>
          <p:cNvSpPr/>
          <p:nvPr/>
        </p:nvSpPr>
        <p:spPr>
          <a:xfrm>
            <a:off x="822960" y="16916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statistics &amp; quality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Colour-coded status badges (🟢/🟡/🔴/⚪) mapped directly from the pipeline's own logged status — nothing re-classified for display.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DQ trend chart across recent runs — evidence this is continuously monitored, not a one-off check.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 worked quarantine example: one deliberately invalid row run through the real validation logic — proves the mechanism works by executing it, not just describing it. Labeled honestly as a synthetic test case; the real pipeline has quarantined 0 rows to date.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48640" y="4023360"/>
            <a:ext cx="11091672" cy="1691640"/>
          </a:xfrm>
          <a:prstGeom prst="roundRect">
            <a:avLst>
              <a:gd name="adj" fmla="val 6486"/>
            </a:avLst>
          </a:prstGeom>
          <a:solidFill>
            <a:srgbClr val="1E2761"/>
          </a:solidFill>
          <a:ln/>
        </p:spPr>
      </p:sp>
      <p:sp>
        <p:nvSpPr>
          <p:cNvPr id="10" name="Text 7"/>
          <p:cNvSpPr/>
          <p:nvPr/>
        </p:nvSpPr>
        <p:spPr>
          <a:xfrm>
            <a:off x="822960" y="4187952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822960" y="457200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plain-language explainer, written for both audiences — the exact formulas behind every KPI, why the macro overlay dropped its dual axis, and precise definitions for every DQ status — all traceable to real table/function names, and kept in sync with docs/metric_definitions.md rather than re-explained twice.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p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Caught, not assumed — and trusted where it earned it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reflection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08760"/>
            <a:ext cx="5394960" cy="4526280"/>
          </a:xfrm>
          <a:prstGeom prst="roundRect">
            <a:avLst>
              <a:gd name="adj" fmla="val 2424"/>
            </a:avLst>
          </a:prstGeom>
          <a:solidFill>
            <a:srgbClr val="FBEAEA"/>
          </a:solidFill>
          <a:ln/>
        </p:spPr>
      </p:sp>
      <p:sp>
        <p:nvSpPr>
          <p:cNvPr id="7" name="Shape 4"/>
          <p:cNvSpPr/>
          <p:nvPr/>
        </p:nvSpPr>
        <p:spPr>
          <a:xfrm>
            <a:off x="804672" y="1746504"/>
            <a:ext cx="182880" cy="182880"/>
          </a:xfrm>
          <a:prstGeom prst="ellipse">
            <a:avLst/>
          </a:prstGeom>
          <a:solidFill>
            <a:srgbClr val="C62828"/>
          </a:solidFill>
          <a:ln/>
        </p:spPr>
      </p:sp>
      <p:sp>
        <p:nvSpPr>
          <p:cNvPr id="8" name="Text 5"/>
          <p:cNvSpPr/>
          <p:nvPr/>
        </p:nvSpPr>
        <p:spPr>
          <a:xfrm>
            <a:off x="1097280" y="16733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three-layer model was my call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22960" y="251460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agent's first working version was a simple two-layer raw → curated pipeline. I directed the split into raw, silver, and curated once the DQ spec needed an explicit layer to quarantine failed rows without touching raw.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822960" y="345643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“Raw” wasn't actually raw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377647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extractors were narrowing and renaming columns before writing to the raw layer — technically raw in name, not in fact. Caught on review, not agent self-catch; corrected to persist every source column untouched.</a:t>
            </a:r>
            <a:endParaRPr lang="en-US" sz="1080" dirty="0"/>
          </a:p>
        </p:txBody>
      </p:sp>
      <p:sp>
        <p:nvSpPr>
          <p:cNvPr id="13" name="Text 10"/>
          <p:cNvSpPr/>
          <p:nvPr/>
        </p:nvSpPr>
        <p:spPr>
          <a:xfrm>
            <a:off x="822960" y="47183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“It ran” ≠ “it worked”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822960" y="5038344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volatility signal computed with zero errors but was 0% populated. Caught by checking the actual row count, not just that nothing crashed — fixed with a properly sized lookback window.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6245352" y="1508760"/>
            <a:ext cx="5394960" cy="4526280"/>
          </a:xfrm>
          <a:prstGeom prst="roundRect">
            <a:avLst>
              <a:gd name="adj" fmla="val 2424"/>
            </a:avLst>
          </a:prstGeom>
          <a:solidFill>
            <a:srgbClr val="EEF3FD"/>
          </a:solidFill>
          <a:ln/>
        </p:spPr>
      </p:sp>
      <p:sp>
        <p:nvSpPr>
          <p:cNvPr id="16" name="Shape 13"/>
          <p:cNvSpPr/>
          <p:nvPr/>
        </p:nvSpPr>
        <p:spPr>
          <a:xfrm>
            <a:off x="6501384" y="1746504"/>
            <a:ext cx="182880" cy="182880"/>
          </a:xfrm>
          <a:prstGeom prst="ellipse">
            <a:avLst/>
          </a:prstGeom>
          <a:solidFill>
            <a:srgbClr val="1E7E34"/>
          </a:solidFill>
          <a:ln/>
        </p:spPr>
      </p:sp>
      <p:sp>
        <p:nvSpPr>
          <p:cNvPr id="17" name="Text 14"/>
          <p:cNvSpPr/>
          <p:nvPr/>
        </p:nvSpPr>
        <p:spPr>
          <a:xfrm>
            <a:off x="6793992" y="1673352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6519672" y="2194560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metric-definitions draft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6519672" y="2514600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 as the starting point — including three open judgment calls the agent flagged rather than silently defaulting on (warm-up nulls, baseline averaging, annualisation convention). I decided each one myself.</a:t>
            </a:r>
            <a:endParaRPr lang="en-US" sz="1080" dirty="0"/>
          </a:p>
        </p:txBody>
      </p:sp>
      <p:sp>
        <p:nvSpPr>
          <p:cNvPr id="20" name="Text 17"/>
          <p:cNvSpPr/>
          <p:nvPr/>
        </p:nvSpPr>
        <p:spPr>
          <a:xfrm>
            <a:off x="6519672" y="3456432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mart design doc</a:t>
            </a:r>
            <a:endParaRPr lang="en-US" sz="1250" dirty="0"/>
          </a:p>
        </p:txBody>
      </p:sp>
      <p:sp>
        <p:nvSpPr>
          <p:cNvPr id="21" name="Text 18"/>
          <p:cNvSpPr/>
          <p:nvPr/>
        </p:nvSpPr>
        <p:spPr>
          <a:xfrm>
            <a:off x="6519672" y="3776472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star-schema proposal, written before any code. Walked through two embedded judgment calls with the agent and approved it — not accepted blind, but the design itself needed no rework.</a:t>
            </a:r>
            <a:endParaRPr lang="en-US" sz="1080" dirty="0"/>
          </a:p>
        </p:txBody>
      </p:sp>
      <p:sp>
        <p:nvSpPr>
          <p:cNvPr id="22" name="Text 19"/>
          <p:cNvSpPr/>
          <p:nvPr/>
        </p:nvSpPr>
        <p:spPr>
          <a:xfrm>
            <a:off x="6519672" y="4718304"/>
            <a:ext cx="4846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handled hitting a wall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6519672" y="5038344"/>
            <a:ext cx="48463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08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sandbox limit blocked it mid-task, it stopped, said exactly what failed, and asked rather than guessing or quietly leaving a broken state — trusted as the default response, no correction needed.</a:t>
            </a:r>
            <a:endParaRPr lang="en-US" sz="1080" dirty="0"/>
          </a:p>
        </p:txBody>
      </p:sp>
      <p:sp>
        <p:nvSpPr>
          <p:cNvPr id="24" name="Text 21"/>
          <p:cNvSpPr/>
          <p:nvPr/>
        </p:nvSpPr>
        <p:spPr>
          <a:xfrm>
            <a:off x="548640" y="61722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turn-by-turn record: docs/ai_agent_process_log.md — 12 entries.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owned vs. what the agent owned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&amp; standards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2834640"/>
        </p:xfrm>
        <a:graphic>
          <a:graphicData uri="http://schemas.openxmlformats.org/drawingml/2006/table">
            <a:tbl>
              <a:tblPr/>
              <a:tblGrid>
                <a:gridCol w="5541264"/>
                <a:gridCol w="5550408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Owned by lead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Owned by agent (supervised)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 &amp; metric selection, threshold rationale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Boilerplate scaffolding, extractor implementation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Rubric/requirement compliance checking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Test-writing against a locked spec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 definitions, written before any code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Implementation once spec is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modelling standards — schema shape, what “raw” means literally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 schema proposals with tradeoffs surfaced, not silently decided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Deciding acceptance criteria for “done”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B1F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Running against real data, reporting actual counts — not just “no exception”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ADCF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434840"/>
            <a:ext cx="5394960" cy="1965960"/>
          </a:xfrm>
          <a:prstGeom prst="roundRect">
            <a:avLst>
              <a:gd name="adj" fmla="val 5581"/>
            </a:avLst>
          </a:prstGeom>
          <a:solidFill>
            <a:srgbClr val="1E2761"/>
          </a:solidFill>
          <a:ln/>
        </p:spPr>
      </p:sp>
      <p:sp>
        <p:nvSpPr>
          <p:cNvPr id="8" name="Text 4"/>
          <p:cNvSpPr/>
          <p:nvPr/>
        </p:nvSpPr>
        <p:spPr>
          <a:xfrm>
            <a:off x="777240" y="45720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was iterative, not one-pass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777240" y="5029200"/>
            <a:ext cx="49377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rule went through three passes: a first draft, a boundary and near-zero-denominator fix once a real failure mode surfaced, then a lookback-window fix once it ran against real data and returned zero populated rows. Each pass came from checking actual output, not re-reading code.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126480" y="4434840"/>
            <a:ext cx="5513832" cy="1965960"/>
          </a:xfrm>
          <a:prstGeom prst="roundRect">
            <a:avLst>
              <a:gd name="adj" fmla="val 5581"/>
            </a:avLst>
          </a:prstGeom>
          <a:solidFill>
            <a:srgbClr val="EEF3FD"/>
          </a:solidFill>
          <a:ln/>
        </p:spPr>
      </p:sp>
      <p:sp>
        <p:nvSpPr>
          <p:cNvPr id="11" name="Text 7"/>
          <p:cNvSpPr/>
          <p:nvPr/>
        </p:nvSpPr>
        <p:spPr>
          <a:xfrm>
            <a:off x="6355080" y="45720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becomes a handoff model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6355080" y="502920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schema-level decision — metric definitions, then the mart design — went through a written proposal, signed off before code: the artifact I'd hand a new hire or agent to onboard onto this codebase. When a second agent joined mid-build, I split file ownership explicitly, not left it to chance.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arr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next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I had more time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1737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77240" y="201168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curated.fact_daily_long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2560320"/>
            <a:ext cx="4892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flexible reporting layer, designed but not built. Wins the top spot because it unblocks every *future* dashboard request without more pipeline work — the highest-leverage thing left.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172200" y="1554480"/>
            <a:ext cx="5349240" cy="27432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/>
          <p:nvPr/>
        </p:nvSpPr>
        <p:spPr>
          <a:xfrm>
            <a:off x="6400800" y="1737360"/>
            <a:ext cx="4892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FA6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2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0" y="2011680"/>
            <a:ext cx="4892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RBA meeting calendar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400800" y="2560320"/>
            <a:ext cx="489204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marks rate-change dates only. Wins second because markets can react to a hold's guidance too, not just a move — a real gap in the “anything to watch” story, cheap to close.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11091672" cy="1051560"/>
          </a:xfrm>
          <a:prstGeom prst="roundRect">
            <a:avLst>
              <a:gd name="adj" fmla="val 10435"/>
            </a:avLst>
          </a:prstGeom>
          <a:solidFill>
            <a:srgbClr val="EEF3FD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4663440"/>
            <a:ext cx="10561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i="1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Consciously left off the top two: real scheduling and hosted deployment. Both matter eventually, but this is a local case-study submission, not a production rollout yet — solving them now would be effort spent ahead of actual need.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566928" cy="566928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f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199" y="584759"/>
            <a:ext cx="311810" cy="31181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384048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1F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I've had to move people, not just data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280160" y="896112"/>
            <a:ext cx="10332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stakeholder influence — beyond this case study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F3FD"/>
          </a:solidFill>
          <a:ln/>
        </p:spPr>
      </p:sp>
      <p:sp>
        <p:nvSpPr>
          <p:cNvPr id="7" name="Text 4"/>
          <p:cNvSpPr/>
          <p:nvPr/>
        </p:nvSpPr>
        <p:spPr>
          <a:xfrm>
            <a:off x="804672" y="1645920"/>
            <a:ext cx="48828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Bigtincan — legacy reporting migration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04672" y="2240280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804672" y="2496312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Data mandated migrating legacy reporting to a modern BI platform on Databricks — 300+ customers globally, deadline forced by an expiring software licence.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" y="3502152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PUSHED FOR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04672" y="3758184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like-for-like migration. I proposed defining higher-level reporting requirements and a reusable data model instead — so customers could build new reports themselves, not wait on us to rebuild every existing one.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804672" y="4764024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04672" y="5020056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Convinced the product team to trade migration speed for genuine self-serve capability.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245352" y="1463040"/>
            <a:ext cx="5394960" cy="4572000"/>
          </a:xfrm>
          <a:prstGeom prst="roundRect">
            <a:avLst>
              <a:gd name="adj" fmla="val 2400"/>
            </a:avLst>
          </a:prstGeom>
          <a:solidFill>
            <a:srgbClr val="EEF3FD"/>
          </a:solidFill>
          <a:ln/>
        </p:spPr>
      </p:sp>
      <p:sp>
        <p:nvSpPr>
          <p:cNvPr id="15" name="Text 12"/>
          <p:cNvSpPr/>
          <p:nvPr/>
        </p:nvSpPr>
        <p:spPr>
          <a:xfrm>
            <a:off x="6501384" y="1645920"/>
            <a:ext cx="488289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Allianz — actuarial reserving automation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6501384" y="2240280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6501384" y="2496312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Currently driving automation of the actuarial reserving process across three product lines — general insurance, CTP, workers comp — each with different rules.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6501384" y="3502152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PUSHED FOR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6501384" y="3758184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Rather than three bespoke solutions, defined a strategy for reusable components that work across all three, and worked the plan through with business stakeholders before any build started.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01384" y="4764024"/>
            <a:ext cx="4882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7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6501384" y="5020056"/>
            <a:ext cx="4882896" cy="960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1B1F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architecture, three product lines, self-serve capability designed in from the start.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B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2996" y="548640"/>
            <a:ext cx="822960" cy="822960"/>
          </a:xfrm>
          <a:prstGeom prst="ellipse">
            <a:avLst/>
          </a:prstGeom>
          <a:solidFill>
            <a:srgbClr val="1E2761"/>
          </a:solidFill>
          <a:ln/>
        </p:spPr>
      </p:sp>
      <p:pic>
        <p:nvPicPr>
          <p:cNvPr id="3" name="Image 0" descr="/Users/rameshdurgappa/Github/mip/presentation/assets/compa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68162" y="733806"/>
            <a:ext cx="452628" cy="4526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6002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standard, at scale</a:t>
            </a:r>
            <a:endParaRPr lang="en-US" sz="2800" dirty="0"/>
          </a:p>
        </p:txBody>
      </p:sp>
      <p:sp>
        <p:nvSpPr>
          <p:cNvPr id="5" name="Text 2"/>
          <p:cNvSpPr/>
          <p:nvPr/>
        </p:nvSpPr>
        <p:spPr>
          <a:xfrm>
            <a:off x="1371600" y="2331720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metrics leaders actually use — not manual reporting.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1371600" y="2715768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built into every product from day one — not bolted on after.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371600" y="3099816"/>
            <a:ext cx="94457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that drives decisions — not decorates them.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914400" y="3794760"/>
            <a:ext cx="1036015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questions, and a live look at the dashboard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188720" y="448056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3383280" y="448056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github.com/donimalai/market_trends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1188720" y="498348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locally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383280" y="4983480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run_pipeline.py  &amp;&amp;  streamlit run src/dashboard/app.py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Intelligence Platform  |  Case study — Data &amp; Analytics Engineering Lead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74552" y="6473952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892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2026-07-24T10:06:33Z</dcterms:created>
  <dcterms:modified xsi:type="dcterms:W3CDTF">2026-07-24T10:06:33Z</dcterms:modified>
</cp:coreProperties>
</file>